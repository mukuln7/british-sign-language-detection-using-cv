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385699"/>
            <a:ext cx="9440034" cy="2648381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British Sign Language Detection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500612"/>
            <a:ext cx="9440034" cy="1397951"/>
          </a:xfrm>
        </p:spPr>
        <p:txBody>
          <a:bodyPr>
            <a:normAutofit/>
          </a:bodyPr>
          <a:lstStyle/>
          <a:p>
            <a:r>
              <a:rPr lang="en-GB" sz="2000" dirty="0"/>
              <a:t>Reflective Report on Model Development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3B1D4-C3A9-4F51-9849-EF08FCD9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609600"/>
            <a:ext cx="10353762" cy="1257300"/>
          </a:xfrm>
        </p:spPr>
        <p:txBody>
          <a:bodyPr/>
          <a:lstStyle/>
          <a:p>
            <a:r>
              <a:rPr lang="en-GB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5BD96-8E67-86A3-8371-CFBA96DE7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476890"/>
            <a:ext cx="10353762" cy="2402244"/>
          </a:xfrm>
        </p:spPr>
        <p:txBody>
          <a:bodyPr/>
          <a:lstStyle/>
          <a:p>
            <a:pPr marL="36900" indent="0" algn="ctr">
              <a:buNone/>
            </a:pPr>
            <a:r>
              <a:rPr lang="en-GB" dirty="0"/>
              <a:t>Overview of the project’s objective: Developing a machine learning model to recognize British Sign Language (BSL) letters.</a:t>
            </a:r>
            <a:br>
              <a:rPr lang="en-GB" dirty="0"/>
            </a:br>
            <a:r>
              <a:rPr lang="en-GB" dirty="0"/>
              <a:t>The Dataset is self made and the model is build using CNN and ANN layers</a:t>
            </a:r>
            <a:br>
              <a:rPr lang="en-GB" dirty="0"/>
            </a:br>
            <a:r>
              <a:rPr lang="en-GB" dirty="0"/>
              <a:t>Recognizes British sign language’s all alphabets except J and H (as they are dynamic)</a:t>
            </a:r>
            <a:br>
              <a:rPr lang="en-GB" dirty="0"/>
            </a:br>
            <a:r>
              <a:rPr lang="en-GB" dirty="0"/>
              <a:t>Makes the recognitions on a live video feed from the webcam</a:t>
            </a:r>
            <a:br>
              <a:rPr lang="en-GB" dirty="0"/>
            </a:br>
            <a:r>
              <a:rPr lang="en-GB" dirty="0"/>
              <a:t>The model is lightweight and gives practically usable FPS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0566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71786-3484-FE53-6B79-7E13E779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Collection Approach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694E1-B302-9C5F-ECE2-B323FC51A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Image Collection Method:</a:t>
            </a:r>
            <a:r>
              <a:rPr lang="en-IN" dirty="0"/>
              <a:t> Capturing live images via OpenCV.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Resolution:</a:t>
            </a:r>
            <a:r>
              <a:rPr lang="en-IN" dirty="0"/>
              <a:t> 48x48 grayscale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Dataset Composition: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250 images per label (A-Z, excluding H &amp; J due to dynamic movement).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 blank category included.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Preprocessing:</a:t>
            </a:r>
            <a:r>
              <a:rPr lang="en-IN" dirty="0"/>
              <a:t> Resizing, grayscale conversion, and dataset split (80% train, 20% validation).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3901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07C3-B939-9658-FC1D-E2D8A168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Preprocessing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3EC5D9-0F18-2A23-14C7-F4757A547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5487005" cy="371474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 A dataset similar to the one shown is used</a:t>
            </a:r>
          </a:p>
          <a:p>
            <a:r>
              <a:rPr lang="en-GB" dirty="0"/>
              <a:t>The images are extracted from a rectangular frame on the screen </a:t>
            </a:r>
          </a:p>
          <a:p>
            <a:r>
              <a:rPr lang="en-GB" dirty="0"/>
              <a:t>The images are turned into 48*48 grayscale images for the model to be lightweight and mobile</a:t>
            </a:r>
          </a:p>
          <a:p>
            <a:r>
              <a:rPr lang="en-GB" dirty="0"/>
              <a:t>Data Augmentation techniques were used , and the images are scaled from 0 to 1</a:t>
            </a:r>
            <a:br>
              <a:rPr lang="en-GB" dirty="0"/>
            </a:br>
            <a:endParaRPr lang="en-IN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0D90AB2-8678-4D3F-F2DE-65BAFC72C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089" y="2095111"/>
            <a:ext cx="4831261" cy="37147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3438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A70C-9A6D-A976-C95A-B566D1AA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981" y="674915"/>
            <a:ext cx="3706889" cy="1821918"/>
          </a:xfrm>
        </p:spPr>
        <p:txBody>
          <a:bodyPr>
            <a:normAutofit/>
          </a:bodyPr>
          <a:lstStyle/>
          <a:p>
            <a:r>
              <a:rPr lang="en-GB" dirty="0"/>
              <a:t>Model </a:t>
            </a:r>
            <a:r>
              <a:rPr lang="en-GB" sz="5300" dirty="0"/>
              <a:t>Architecture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E1E1B-3C92-C1CA-3489-45286E45E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2515" y="2673351"/>
            <a:ext cx="5949822" cy="3016250"/>
          </a:xfrm>
        </p:spPr>
        <p:txBody>
          <a:bodyPr/>
          <a:lstStyle/>
          <a:p>
            <a:r>
              <a:rPr lang="en-IN" dirty="0"/>
              <a:t>Conv2D (128 filters, 3x3) → </a:t>
            </a:r>
            <a:r>
              <a:rPr lang="en-IN" dirty="0" err="1"/>
              <a:t>MaxPooling</a:t>
            </a:r>
            <a:r>
              <a:rPr lang="en-IN" dirty="0"/>
              <a:t> → Dropout (40%)</a:t>
            </a:r>
          </a:p>
          <a:p>
            <a:r>
              <a:rPr lang="en-IN" dirty="0"/>
              <a:t>Conv2D (256 filters) → </a:t>
            </a:r>
            <a:r>
              <a:rPr lang="en-IN" dirty="0" err="1"/>
              <a:t>MaxPooling</a:t>
            </a:r>
            <a:r>
              <a:rPr lang="en-IN" dirty="0"/>
              <a:t> → Dropout (40%)</a:t>
            </a:r>
          </a:p>
          <a:p>
            <a:r>
              <a:rPr lang="en-IN" dirty="0"/>
              <a:t>Conv2D (512 filters) → </a:t>
            </a:r>
            <a:r>
              <a:rPr lang="en-IN" dirty="0" err="1"/>
              <a:t>MaxPooling</a:t>
            </a:r>
            <a:r>
              <a:rPr lang="en-IN" dirty="0"/>
              <a:t> → Dropout (40%)</a:t>
            </a:r>
          </a:p>
          <a:p>
            <a:r>
              <a:rPr lang="en-IN" dirty="0"/>
              <a:t>Conv2D (512 filters) → </a:t>
            </a:r>
            <a:r>
              <a:rPr lang="en-IN" dirty="0" err="1"/>
              <a:t>MaxPooling</a:t>
            </a:r>
            <a:r>
              <a:rPr lang="en-IN" dirty="0"/>
              <a:t> → Dropout (40%)</a:t>
            </a:r>
          </a:p>
          <a:p>
            <a:r>
              <a:rPr lang="en-GB" dirty="0"/>
              <a:t>Dense layers (512, 64, 256 neurons with dropout layers in between)</a:t>
            </a:r>
          </a:p>
          <a:p>
            <a:r>
              <a:rPr lang="en-GB" dirty="0"/>
              <a:t>Output Layer: 25 neurons (</a:t>
            </a:r>
            <a:r>
              <a:rPr lang="en-GB" dirty="0" err="1"/>
              <a:t>Softmax</a:t>
            </a:r>
            <a:r>
              <a:rPr lang="en-GB" dirty="0"/>
              <a:t> activation for multi-class classification)</a:t>
            </a:r>
          </a:p>
          <a:p>
            <a:endParaRPr lang="en-GB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2050" name="Picture 2" descr="Neural Network Diagram Complete Guide | EdrawMax">
            <a:extLst>
              <a:ext uri="{FF2B5EF4-FFF2-40B4-BE49-F238E27FC236}">
                <a16:creationId xmlns:a16="http://schemas.microsoft.com/office/drawing/2014/main" id="{EAC92BFF-B6B7-3BC1-C4ED-A4EC919CE0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2266854"/>
            <a:ext cx="4794250" cy="2324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873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7AA83-CD84-068A-A9F4-83106112F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234751"/>
            <a:ext cx="10353762" cy="1257300"/>
          </a:xfrm>
        </p:spPr>
        <p:txBody>
          <a:bodyPr/>
          <a:lstStyle/>
          <a:p>
            <a:r>
              <a:rPr lang="en-GB" dirty="0"/>
              <a:t>Model Training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B066F-2A3C-2770-C640-4742A1262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844477"/>
            <a:ext cx="10353762" cy="3714749"/>
          </a:xfrm>
        </p:spPr>
        <p:txBody>
          <a:bodyPr/>
          <a:lstStyle/>
          <a:p>
            <a:pPr marL="36900" indent="0" algn="ctr">
              <a:buNone/>
            </a:pPr>
            <a:r>
              <a:rPr lang="en-IN" b="1" dirty="0"/>
              <a:t>Optimization:</a:t>
            </a:r>
            <a:r>
              <a:rPr lang="en-IN" dirty="0"/>
              <a:t> Adam optimizer with categorical cross-entropy loss.</a:t>
            </a:r>
          </a:p>
          <a:p>
            <a:pPr marL="36900" indent="0" algn="ctr">
              <a:buNone/>
            </a:pPr>
            <a:r>
              <a:rPr lang="en-IN" b="1" dirty="0"/>
              <a:t>Epochs:</a:t>
            </a:r>
            <a:r>
              <a:rPr lang="en-IN" dirty="0"/>
              <a:t> 100 for stable convergence.</a:t>
            </a:r>
          </a:p>
          <a:p>
            <a:pPr marL="36900" indent="0" algn="ctr">
              <a:buNone/>
            </a:pPr>
            <a:r>
              <a:rPr lang="en-IN" b="1" dirty="0"/>
              <a:t>Batch Normalization:</a:t>
            </a:r>
            <a:r>
              <a:rPr lang="en-IN" dirty="0"/>
              <a:t> Applied to enhance generalization.</a:t>
            </a:r>
          </a:p>
          <a:p>
            <a:pPr marL="36900" indent="0" algn="ctr">
              <a:buNone/>
            </a:pPr>
            <a:r>
              <a:rPr lang="en-IN" b="1" dirty="0"/>
              <a:t>Results:</a:t>
            </a:r>
            <a:r>
              <a:rPr lang="en-IN" dirty="0"/>
              <a:t> Accuracy improvements over training epochs.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78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EA23-8CF7-CA60-BECB-56F8E59B9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789825"/>
            <a:ext cx="9440034" cy="1828801"/>
          </a:xfrm>
        </p:spPr>
        <p:txBody>
          <a:bodyPr/>
          <a:lstStyle/>
          <a:p>
            <a:r>
              <a:rPr lang="en-GB" dirty="0"/>
              <a:t>Deployment and Real Time Testing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0CDDF-4985-94A5-0010-4ADC93EB3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2999048"/>
            <a:ext cx="9440034" cy="293522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Model Storage:</a:t>
            </a:r>
            <a:r>
              <a:rPr lang="en-GB" dirty="0"/>
              <a:t> Saved in JSON and H5 formats.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Real-Time Inference: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Webcam captures hand gestures.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Model predicts corresponding BSL letters.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Displays classification results with confidence scores.</a:t>
            </a:r>
          </a:p>
        </p:txBody>
      </p:sp>
    </p:spTree>
    <p:extLst>
      <p:ext uri="{BB962C8B-B14F-4D97-AF65-F5344CB8AC3E}">
        <p14:creationId xmlns:p14="http://schemas.microsoft.com/office/powerpoint/2010/main" val="149611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41C4-4E1C-DE91-0C61-5B93A2A6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Conclusion &amp; Future Scope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CCEB-1E67-C816-783D-3CBC7E55F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091085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Achievements: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Successfully recognized static BSL letters.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Achieved efficient real-time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Future Enhancements: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Improve dynamic sign detection.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Expand dataset for better accuracy.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Develop a full-fledged BSL translation system.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                                                                                                                           -Thank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5238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{2F6BADCA-9857-4660-B35A-699ABA3A30A0}tf12214701_win32</Template>
  <TotalTime>28</TotalTime>
  <Words>401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Goudy Old Style</vt:lpstr>
      <vt:lpstr>Wingdings 2</vt:lpstr>
      <vt:lpstr>SlateVTI</vt:lpstr>
      <vt:lpstr>British Sign Language Detection Using Machine Learning</vt:lpstr>
      <vt:lpstr>Introduction</vt:lpstr>
      <vt:lpstr>Dataset Collection Approach</vt:lpstr>
      <vt:lpstr>Preprocessing</vt:lpstr>
      <vt:lpstr>Model Architecture</vt:lpstr>
      <vt:lpstr>Model Training Process</vt:lpstr>
      <vt:lpstr>Deployment and Real Time Testing</vt:lpstr>
      <vt:lpstr>Conclusion &amp; Future Scope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Mukul Napa</dc:creator>
  <cp:lastModifiedBy>Mukul Napa</cp:lastModifiedBy>
  <cp:revision>1</cp:revision>
  <dcterms:created xsi:type="dcterms:W3CDTF">2025-03-10T14:38:04Z</dcterms:created>
  <dcterms:modified xsi:type="dcterms:W3CDTF">2025-03-10T15:06:49Z</dcterms:modified>
</cp:coreProperties>
</file>